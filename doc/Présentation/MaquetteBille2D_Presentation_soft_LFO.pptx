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2" r:id="rId6"/>
    <p:sldId id="278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68" r:id="rId17"/>
    <p:sldId id="276" r:id="rId18"/>
    <p:sldId id="261" r:id="rId19"/>
    <p:sldId id="263" r:id="rId20"/>
    <p:sldId id="264" r:id="rId21"/>
    <p:sldId id="277" r:id="rId22"/>
    <p:sldId id="265" r:id="rId23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4E017-6498-49AE-8E90-D9B9C996EBDF}" v="3" dt="2026-06-03T05:49:04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Ferreiro" userId="2e05ea91-8c5d-4b52-934a-4347b8f8443c" providerId="ADAL" clId="{D544E017-6498-49AE-8E90-D9B9C996EBDF}"/>
    <pc:docChg chg="undo custSel addSld modSld">
      <pc:chgData name="Luca Ferreiro" userId="2e05ea91-8c5d-4b52-934a-4347b8f8443c" providerId="ADAL" clId="{D544E017-6498-49AE-8E90-D9B9C996EBDF}" dt="2026-06-03T05:49:04.084" v="44"/>
      <pc:docMkLst>
        <pc:docMk/>
      </pc:docMkLst>
      <pc:sldChg chg="addSp delSp modSp mod">
        <pc:chgData name="Luca Ferreiro" userId="2e05ea91-8c5d-4b52-934a-4347b8f8443c" providerId="ADAL" clId="{D544E017-6498-49AE-8E90-D9B9C996EBDF}" dt="2026-06-03T05:25:06.957" v="36" actId="1076"/>
        <pc:sldMkLst>
          <pc:docMk/>
          <pc:sldMk cId="0" sldId="265"/>
        </pc:sldMkLst>
        <pc:spChg chg="add del mod">
          <ac:chgData name="Luca Ferreiro" userId="2e05ea91-8c5d-4b52-934a-4347b8f8443c" providerId="ADAL" clId="{D544E017-6498-49AE-8E90-D9B9C996EBDF}" dt="2026-06-03T05:24:33.061" v="34" actId="478"/>
          <ac:spMkLst>
            <pc:docMk/>
            <pc:sldMk cId="0" sldId="265"/>
            <ac:spMk id="8" creationId="{00000000-0000-0000-0000-000000000000}"/>
          </ac:spMkLst>
        </pc:spChg>
        <pc:spChg chg="add del mod">
          <ac:chgData name="Luca Ferreiro" userId="2e05ea91-8c5d-4b52-934a-4347b8f8443c" providerId="ADAL" clId="{D544E017-6498-49AE-8E90-D9B9C996EBDF}" dt="2026-06-03T05:24:31.078" v="33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Luca Ferreiro" userId="2e05ea91-8c5d-4b52-934a-4347b8f8443c" providerId="ADAL" clId="{D544E017-6498-49AE-8E90-D9B9C996EBDF}" dt="2026-06-03T05:25:06.957" v="36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Luca Ferreiro" userId="2e05ea91-8c5d-4b52-934a-4347b8f8443c" providerId="ADAL" clId="{D544E017-6498-49AE-8E90-D9B9C996EBDF}" dt="2026-06-03T05:25:06.957" v="36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Luca Ferreiro" userId="2e05ea91-8c5d-4b52-934a-4347b8f8443c" providerId="ADAL" clId="{D544E017-6498-49AE-8E90-D9B9C996EBDF}" dt="2026-06-03T05:25:06.957" v="36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Luca Ferreiro" userId="2e05ea91-8c5d-4b52-934a-4347b8f8443c" providerId="ADAL" clId="{D544E017-6498-49AE-8E90-D9B9C996EBDF}" dt="2026-06-03T05:25:06.957" v="36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Luca Ferreiro" userId="2e05ea91-8c5d-4b52-934a-4347b8f8443c" providerId="ADAL" clId="{D544E017-6498-49AE-8E90-D9B9C996EBDF}" dt="2026-06-03T05:25:06.957" v="36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Luca Ferreiro" userId="2e05ea91-8c5d-4b52-934a-4347b8f8443c" providerId="ADAL" clId="{D544E017-6498-49AE-8E90-D9B9C996EBDF}" dt="2026-06-03T05:25:06.957" v="36" actId="1076"/>
          <ac:spMkLst>
            <pc:docMk/>
            <pc:sldMk cId="0" sldId="265"/>
            <ac:spMk id="15" creationId="{00000000-0000-0000-0000-000000000000}"/>
          </ac:spMkLst>
        </pc:spChg>
      </pc:sldChg>
      <pc:sldChg chg="addSp modSp new mod modAnim">
        <pc:chgData name="Luca Ferreiro" userId="2e05ea91-8c5d-4b52-934a-4347b8f8443c" providerId="ADAL" clId="{D544E017-6498-49AE-8E90-D9B9C996EBDF}" dt="2026-06-03T05:49:04.084" v="44"/>
        <pc:sldMkLst>
          <pc:docMk/>
          <pc:sldMk cId="933868294" sldId="279"/>
        </pc:sldMkLst>
        <pc:picChg chg="add mod">
          <ac:chgData name="Luca Ferreiro" userId="2e05ea91-8c5d-4b52-934a-4347b8f8443c" providerId="ADAL" clId="{D544E017-6498-49AE-8E90-D9B9C996EBDF}" dt="2026-06-03T05:48:48.807" v="42" actId="14100"/>
          <ac:picMkLst>
            <pc:docMk/>
            <pc:sldMk cId="933868294" sldId="279"/>
            <ac:picMk id="2" creationId="{AF9D8D55-6A05-4528-A90F-50428F7F22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0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42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63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86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13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87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60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05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13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7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7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91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2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539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MaquetteBille2D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2417_B — POBJ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0292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99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MPLAB X v6.15  ·  Harmony v2.06  ·  XC32 v2.50  ·  PIC32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 – Mai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82296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: Environnement  ·  Détection bille  ·  Gestion boutons  ·  Algorithmes  ·  Difficultés  ·  Mesures  ·  Démo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&amp;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MPLAB X 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v6.15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68680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Configurateur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68680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3136" y="86868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68680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03136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(SPI, Timers, PWM)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8595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 (Harmony FSM)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46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d'états : APP_STATE_INIT → APP_STATE_SERVICE_TASKS → APP_STATE_WAIT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630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Périphériques initialisés : SPI (TSC2046), Timers, PWM (OC_ID_1 &amp; OC_ID_2)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05993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0142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série : UART avec FSM de réception (RTS_INIT, PumpRxFifo)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44398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3982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: LCD graphique piloté via PLIB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initial → État final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77640" cy="420624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ÉTAT INITIAL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38988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353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PENIRQ oscille en continu (bruit)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80136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7647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bille non fiable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21284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176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d'anti-rebond sur les entrées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62432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587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Menu/affichage : fonctions éparpillées dans GestMenu.c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03580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9992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carte lors de modif. PID (atof())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44728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boutons couplée au menu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858768"/>
            <a:ext cx="182880" cy="182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structogrammes à jour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2560320"/>
            <a:ext cx="457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28090"/>
                </a:solidFill>
              </a:rPr>
              <a:t>→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4892040" y="822960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822960"/>
            <a:ext cx="397764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822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ÉTAT FINAL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47488" y="13807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353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PENIRQ stable (PD1=0, PD0=0)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47488" y="17922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7647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bille 100% fonctionnelle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47488" y="22037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2176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Anti-rebond via Mc32Debounce (3 états)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47488" y="26151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587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boutons universelle (Mc32GestBtn)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47488" y="302666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29992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architecture menu propre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47488" y="34381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PID activée par présence bille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47488" y="38496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Structogrammes complets &amp; README à jour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: Détection de la bille (PENIRQ)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Hardware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023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PD1 = PD0 =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53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PENIRQ désactivé (bruité, inutilisable)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4023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1801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PD1 = PD0 =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0208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 lecture constante, PENIRQ actif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4023360" cy="502920"/>
          </a:xfrm>
          <a:prstGeom prst="rect">
            <a:avLst/>
          </a:prstGeom>
          <a:solidFill>
            <a:srgbClr val="E8FAF5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3682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 présente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587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PENIRQ reste à 0 en continu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4023360" cy="502920"/>
          </a:xfrm>
          <a:prstGeom prst="rect">
            <a:avLst/>
          </a:prstGeom>
          <a:solidFill>
            <a:srgbClr val="FEF3E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2935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Bille absente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31546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PENIRQ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758952"/>
            <a:ext cx="4206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758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Anti-rebond (Mc32Debounce)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123444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3792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callback cadence la lecture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1600200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189280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3792" y="1892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DebounceClearPressed(PENIRQ) appelé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2258568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55117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93792" y="2551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DebounceClearReleased(PENIRQ) appelé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19472" y="2916936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3209544"/>
            <a:ext cx="347472" cy="347472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93792" y="32095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états bas consécutifs confirmés 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19472" y="3575304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386791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93792" y="3867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Régulation PID activée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Servos recentrés, affichage "Aucune bille"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8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F898C1A7-3B8A-4E74-8FD2-8CB596A68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264" y="658368"/>
            <a:ext cx="3365151" cy="4485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APP_Task_V2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570" y="658367"/>
            <a:ext cx="2938529" cy="44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1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858"/>
          <a:stretch/>
        </p:blipFill>
        <p:spPr>
          <a:xfrm>
            <a:off x="320040" y="1000412"/>
            <a:ext cx="8512303" cy="314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5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1" t="24180" r="74423" b="49065"/>
          <a:stretch/>
        </p:blipFill>
        <p:spPr>
          <a:xfrm>
            <a:off x="3230480" y="658368"/>
            <a:ext cx="2683040" cy="44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4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96" t="24007" r="13137" b="49534"/>
          <a:stretch/>
        </p:blipFill>
        <p:spPr>
          <a:xfrm>
            <a:off x="1159665" y="658368"/>
            <a:ext cx="6824670" cy="44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61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34" t="50000" r="13000" b="43905"/>
          <a:stretch/>
        </p:blipFill>
        <p:spPr>
          <a:xfrm>
            <a:off x="1159665" y="957834"/>
            <a:ext cx="6824670" cy="103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1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84" t="53518" r="51345" b="34076"/>
          <a:stretch/>
        </p:blipFill>
        <p:spPr>
          <a:xfrm>
            <a:off x="861060" y="2065020"/>
            <a:ext cx="259080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82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61" t="54956" r="13183" b="31098"/>
          <a:stretch/>
        </p:blipFill>
        <p:spPr>
          <a:xfrm>
            <a:off x="3955586" y="1737868"/>
            <a:ext cx="5188414" cy="288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83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61" t="68902" r="13183" b="15348"/>
          <a:stretch/>
        </p:blipFill>
        <p:spPr>
          <a:xfrm>
            <a:off x="4640797" y="1791843"/>
            <a:ext cx="4503203" cy="282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02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19" t="84764" r="12939" b="2616"/>
          <a:stretch/>
        </p:blipFill>
        <p:spPr>
          <a:xfrm>
            <a:off x="4572000" y="2249043"/>
            <a:ext cx="4572000" cy="226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6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16" t="97065" r="12939" b="1025"/>
          <a:stretch/>
        </p:blipFill>
        <p:spPr>
          <a:xfrm>
            <a:off x="923925" y="3714750"/>
            <a:ext cx="72961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08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162" t="24325" r="1259" b="69472"/>
          <a:stretch/>
        </p:blipFill>
        <p:spPr>
          <a:xfrm>
            <a:off x="3157344" y="1504950"/>
            <a:ext cx="2829312" cy="213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17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Structogramme —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APP_Task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_V2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6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5EEA682C-4515-49A5-8B0E-02F3121F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570" y="658367"/>
            <a:ext cx="2938529" cy="44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4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Universelle : Gestion des Boutons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Inspirée du TP3 MINF (PEC12) — adaptée pour boutons quelconques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70432"/>
            <a:ext cx="2029968" cy="5029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(lecture PLIB)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BTN_UP_RAW()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85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BTN_DOWN_RAW()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BTN_LEFT_RAW()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081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BTN_RIGHT_RAW()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5728" y="1170432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95728" y="1170432"/>
            <a:ext cx="20299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17043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périodique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(callback Timer)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1737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ScanBtn(btnParams)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87168" y="2185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Anti-rebond intégré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87168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Détection front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87168" y="3081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Horloge inactivité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1170432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170432"/>
            <a:ext cx="2029968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117043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propres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publique)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1737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016" y="2185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0016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3081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21424" y="1170432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21424" y="1170432"/>
            <a:ext cx="2029968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117043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12864" y="1737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BtnIsPressed(BTN_X)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12864" y="2185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BtnIsReleased(BTN_X)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BtnNoActivity(BTN_X)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12864" y="3081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BtnGetHold(BTN_X)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07408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620256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82880" y="3840480"/>
            <a:ext cx="87782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7472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d'utilisation 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7472" y="41422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 BtnNoActivity(BTN_UP) ) { /* inactif */ } else { /* actif */ }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914400" cy="34747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77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25.02 → 04.03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813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PENIRQ bruité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931920" cy="36576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0759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PENIRQ oscillait en permanence. Cause : PD1=PD0=1 désactive la pin. Solution : PD1=PD0=0 active le mode «lecture constante».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777240"/>
            <a:ext cx="914400" cy="34747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777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96712" y="813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carte sur modif. PID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28032" y="1188720"/>
            <a:ext cx="3931920" cy="36576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30759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modification des gains (Kp/Ki/Kd) provoquait un plantage. Cause probable : atof() dans GestMenu.c gérait mal les saisies numériques.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C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62072"/>
            <a:ext cx="914400" cy="34747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8620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898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Rafraîchissement LCD trop fréquent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3931920" cy="36576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92424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L'affichage des paramètres (mode Remote/Local) effaçait l'écran en continu. Refonte complète de la logique d'affichage nécessaire.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90872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862072"/>
            <a:ext cx="914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8620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96712" y="2898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menu à refaire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28032" y="3273552"/>
            <a:ext cx="3931920" cy="36576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392424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 menu trop couplé à l'ancienne structure. Décision : nouveaux fichiers .c/.h inspirés du TP3 MINF, anciens fichiers conservés en backup.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&amp; Résultats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900893"/>
              </p:ext>
            </p:extLst>
          </p:nvPr>
        </p:nvGraphicFramePr>
        <p:xfrm>
          <a:off x="274320" y="777240"/>
          <a:ext cx="8595360" cy="339242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/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observé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PENIRQ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PD1=PD0=1 (défaut)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Oscillations continues — bruité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PENIRQ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PD1=PD0=0 (corrigé)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à 0 pendant présence bille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Anti-rebond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Mc32Debounce, 3 états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stable, sans faux positifs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Régulation PID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 sur plateau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Servos actifs, bille régulée au 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Retrait bille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confirmée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Servos recentrés, LCD "Aucune bille"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Modif. gains (atof)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Ancienne archi.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carte — plantage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peut-être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&amp; Résultats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5" descr="Une image contenant texte, capture d’écran, ligne, nombre&#10;&#10;Description générée automatiquement">
            <a:extLst>
              <a:ext uri="{FF2B5EF4-FFF2-40B4-BE49-F238E27FC236}">
                <a16:creationId xmlns:a16="http://schemas.microsoft.com/office/drawing/2014/main" id="{E08E35E9-1F78-4F3F-B09E-7DBFE0612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6" y="1121598"/>
            <a:ext cx="4505324" cy="2900303"/>
          </a:xfrm>
          <a:prstGeom prst="rect">
            <a:avLst/>
          </a:prstGeom>
        </p:spPr>
      </p:pic>
      <p:pic>
        <p:nvPicPr>
          <p:cNvPr id="8" name="Image 7" descr="Une image contenant texte, capture d’écran, nombre, ligne&#10;&#10;Description générée automatiquement">
            <a:extLst>
              <a:ext uri="{FF2B5EF4-FFF2-40B4-BE49-F238E27FC236}">
                <a16:creationId xmlns:a16="http://schemas.microsoft.com/office/drawing/2014/main" id="{AC2F065C-C938-41B5-9645-18803B70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675" y="1121598"/>
            <a:ext cx="4505325" cy="2900303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3796DF26-9747-4187-AB10-5100F5504B83}"/>
              </a:ext>
            </a:extLst>
          </p:cNvPr>
          <p:cNvSpPr/>
          <p:nvPr/>
        </p:nvSpPr>
        <p:spPr>
          <a:xfrm>
            <a:off x="201168" y="4170806"/>
            <a:ext cx="23610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PENIRQ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pose la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</a:t>
            </a:r>
            <a:endParaRPr lang="en-US" sz="13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DC41467-7B7C-4599-A3E5-1BB90BDC1655}"/>
              </a:ext>
            </a:extLst>
          </p:cNvPr>
          <p:cNvSpPr/>
          <p:nvPr/>
        </p:nvSpPr>
        <p:spPr>
          <a:xfrm>
            <a:off x="6581777" y="4146802"/>
            <a:ext cx="256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PENIRQ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enlève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0633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Démo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572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bille fiable et validée (PENIRQ + anti-rebond)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47672"/>
            <a:ext cx="41148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9476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boutons universelle prête pour le prochain utilisateur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menu refactorisée (modules propres, backups conservés)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98648"/>
            <a:ext cx="41148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8986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complète : README, structogrammes, journal de travail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82296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Démo — Démonstration en direct sur la maquette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420e2c772ed3c7d1a258c100d9669e4">
            <a:hlinkClick r:id="" action="ppaction://media"/>
            <a:extLst>
              <a:ext uri="{FF2B5EF4-FFF2-40B4-BE49-F238E27FC236}">
                <a16:creationId xmlns:a16="http://schemas.microsoft.com/office/drawing/2014/main" id="{AF9D8D55-6A05-4528-A90F-50428F7F22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6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BD9BFFC9E543439C53A2705AE306EF" ma:contentTypeVersion="16" ma:contentTypeDescription="Crée un document." ma:contentTypeScope="" ma:versionID="38dc73a88dee211e6edaa3f890ae56dd">
  <xsd:schema xmlns:xsd="http://www.w3.org/2001/XMLSchema" xmlns:xs="http://www.w3.org/2001/XMLSchema" xmlns:p="http://schemas.microsoft.com/office/2006/metadata/properties" xmlns:ns2="f7d9f5a6-831d-4621-8c77-cbcaf993e406" xmlns:ns3="bf2f2df3-a963-4452-b0e7-67dabc627c35" targetNamespace="http://schemas.microsoft.com/office/2006/metadata/properties" ma:root="true" ma:fieldsID="409fe178a1718bd129703a72d87e0cb6" ns2:_="" ns3:_="">
    <xsd:import namespace="f7d9f5a6-831d-4621-8c77-cbcaf993e406"/>
    <xsd:import namespace="bf2f2df3-a963-4452-b0e7-67dabc627c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d9f5a6-831d-4621-8c77-cbcaf993e40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aa1d2d6-9aec-4795-b9c1-beabe73247a8}" ma:internalName="TaxCatchAll" ma:showField="CatchAllData" ma:web="f7d9f5a6-831d-4621-8c77-cbcaf993e4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f2df3-a963-4452-b0e7-67dabc627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2f2df3-a963-4452-b0e7-67dabc627c35">
      <Terms xmlns="http://schemas.microsoft.com/office/infopath/2007/PartnerControls"/>
    </lcf76f155ced4ddcb4097134ff3c332f>
    <TaxCatchAll xmlns="f7d9f5a6-831d-4621-8c77-cbcaf993e406" xsi:nil="true"/>
  </documentManagement>
</p:properties>
</file>

<file path=customXml/itemProps1.xml><?xml version="1.0" encoding="utf-8"?>
<ds:datastoreItem xmlns:ds="http://schemas.openxmlformats.org/officeDocument/2006/customXml" ds:itemID="{FDDADF56-1A89-4397-8079-337FE5BE2734}"/>
</file>

<file path=customXml/itemProps2.xml><?xml version="1.0" encoding="utf-8"?>
<ds:datastoreItem xmlns:ds="http://schemas.openxmlformats.org/officeDocument/2006/customXml" ds:itemID="{37F34C2E-86A9-44B1-B007-F5B9EC0DBCF3}"/>
</file>

<file path=customXml/itemProps3.xml><?xml version="1.0" encoding="utf-8"?>
<ds:datastoreItem xmlns:ds="http://schemas.openxmlformats.org/officeDocument/2006/customXml" ds:itemID="{CED55E60-99B0-451B-A19E-D39D682CBB21}"/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889</Words>
  <Application>Microsoft Office PowerPoint</Application>
  <PresentationFormat>Affichage à l'écran (16:9)</PresentationFormat>
  <Paragraphs>187</Paragraphs>
  <Slides>23</Slides>
  <Notes>22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MaquetteBille2D - Présentation Projet</dc:title>
  <dc:subject>PptxGenJS Presentation</dc:subject>
  <dc:creator>MBR</dc:creator>
  <cp:lastModifiedBy>Luca Ferreiro</cp:lastModifiedBy>
  <cp:revision>11</cp:revision>
  <dcterms:created xsi:type="dcterms:W3CDTF">2026-06-01T11:10:36Z</dcterms:created>
  <dcterms:modified xsi:type="dcterms:W3CDTF">2026-06-03T06:01:50Z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0x0101001ABD9BFFC9E543439C53A2705AE306EF</vt:lpwstr>
  </property>
  <property fmtid="{D5CDD505-2E9C-101B-9397-08002B2CF9AE}" pid="3" name="MediaServiceImageTags">
    <vt:lpwstr/>
  </property>
</Properties>
</file>